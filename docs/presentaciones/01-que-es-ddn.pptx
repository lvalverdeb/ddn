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 de dos presentaciones. Esta cubre QUÉ es la operación; la segunda, CÓMO se apoya en sus paquetes upstream.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§8: el volumen diario es 2.500–5.000 sobres. La elección de qué no se sirve es explícita y se reporta con motivo.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glosario de §2 es fuente de verdad: estos términos se usan tal cual en código, comentarios y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§3.3: nearest facility by road distance. El repositorio reproduce una tabla OSRM real en los tests por esta razón.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concepto que más se malinterpreta al llegar al repositorio: nada se entrega el mismo día que se recoge.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etapa es un módulo del repositorio: pickups/, processing/, linehaul/, lastmile/, returns/.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§7.1 pasó de once a trece bullets en v0.12. El conteo se comprueba leyendo la especificación desde el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asimetría de §8.2 es deliberada: no hay un lock que exprese «este sobre, en ningún vehículo».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§6.1: límites de intento y SLA. Pasada la fecha de SLA el sobre se devuelve al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51560"/>
            <a:ext cx="3291840" cy="3291840"/>
          </a:xfrm>
          <a:prstGeom prst="ellipse">
            <a:avLst/>
          </a:prstGeom>
          <a:solidFill>
            <a:srgbClr val="B8504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5029200"/>
            <a:ext cx="2194560" cy="2194560"/>
          </a:xfrm>
          <a:prstGeom prst="ellipse">
            <a:avLst/>
          </a:prstGeom>
          <a:solidFill>
            <a:srgbClr val="A7BEAE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INTERNA · ESPECIFICACIÓN v0.14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DDN — Red de Entrega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Documentos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básicos de la operación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docs/vrp-problem-definition.md · 22 de septiembre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· §1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en una frase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6400800" cy="2880360"/>
          </a:xfrm>
          <a:prstGeom prst="roundRect">
            <a:avLst>
              <a:gd name="adj" fmla="val 2222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18745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Recoger valijas selladas en casa del cliente, procesarlas en un hub central y entregar cada sobre al día siguiente — decidiendo cada día qué no se puede servir.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340156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DDN no es el solver. Es la traducción entre una operación real y un solver de VRP que ya existe.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60920" y="1572768"/>
            <a:ext cx="1938528" cy="1316736"/>
          </a:xfrm>
          <a:prstGeom prst="roundRect">
            <a:avLst>
              <a:gd name="adj" fmla="val 486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543800" y="17739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2.500–5.000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 al día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482328" y="1572768"/>
            <a:ext cx="1938528" cy="1316736"/>
          </a:xfrm>
          <a:prstGeom prst="roundRect">
            <a:avLst>
              <a:gd name="adj" fmla="val 486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65208" y="17739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665208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servicio por sobre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60920" y="3054096"/>
            <a:ext cx="1938528" cy="1316736"/>
          </a:xfrm>
          <a:prstGeom prst="roundRect">
            <a:avLst>
              <a:gd name="adj" fmla="val 486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43800" y="32552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+ 6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38130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y depósitos secundarios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82328" y="3054096"/>
            <a:ext cx="1938528" cy="1316736"/>
          </a:xfrm>
          <a:prstGeom prst="roundRect">
            <a:avLst>
              <a:gd name="adj" fmla="val 486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65208" y="32552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Motos + furgonetas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65208" y="38130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 compartida, tamaño fijo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892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día punta no todos los sobres listos serán entregables. Elegir cuáles quedan sin asignar es una decisión de primera clase, no un residuo.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· VOCABULARIO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Glosario: seis términos que no se intercambian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3474720" cy="1481328"/>
          </a:xfrm>
          <a:prstGeom prst="roundRect">
            <a:avLst>
              <a:gd name="adj" fmla="val 432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83664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19019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(envelope)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1401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de entrega. Un consignment, una dirección, 200–1.000 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74720" cy="1481328"/>
          </a:xfrm>
          <a:prstGeom prst="roundRect">
            <a:avLst>
              <a:gd name="adj" fmla="val 432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83664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19019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Valija (mailbag)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1401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de recogida. Bolsa sellada con manifiesto. Solo por furgoneta.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1627632"/>
            <a:ext cx="3474720" cy="1481328"/>
          </a:xfrm>
          <a:prstGeom prst="roundRect">
            <a:avLst>
              <a:gd name="adj" fmla="val 432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83664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19019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41401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 de consolidación. Todo sobre pasa por él antes del despacho.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255264"/>
            <a:ext cx="3474720" cy="1481328"/>
          </a:xfrm>
          <a:prstGeom prst="roundRect">
            <a:avLst>
              <a:gd name="adj" fmla="val 432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511296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511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99032" y="35295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Depósito secundario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0416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D1–D6. Recibe por furgoneta y reparte en moto.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255264"/>
            <a:ext cx="3474720" cy="1481328"/>
          </a:xfrm>
          <a:prstGeom prst="roundRect">
            <a:avLst>
              <a:gd name="adj" fmla="val 432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511296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3511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48072" y="35295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troncal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0416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de furgoneta entre instalaciones: hub→depósito, transferencias, retornos.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92440" y="3255264"/>
            <a:ext cx="3474720" cy="1481328"/>
          </a:xfrm>
          <a:prstGeom prst="roundRect">
            <a:avLst>
              <a:gd name="adj" fmla="val 4321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511296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3511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97112" y="35295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Última milla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0416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en moto desde el hub o desde un depósito.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50474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«Sobre» y «paquete» no son sinónimos en el código: package_id es la clave que el cliente da a un sobre, nada más. Usar los dos indistintamente en identificadores está prohibido.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 y §3.3 · TOPOLOGÍA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 y la regla de asignación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029200" cy="3200400"/>
          </a:xfrm>
          <a:prstGeom prst="roundRect">
            <a:avLst>
              <a:gd name="adj" fmla="val 200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84832"/>
            <a:ext cx="1051560" cy="10515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08483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874520"/>
            <a:ext cx="676656" cy="67665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87452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39312" y="1874520"/>
            <a:ext cx="676656" cy="67665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39312" y="187452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35424" y="1874520"/>
            <a:ext cx="676656" cy="67665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35424" y="187452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2715768"/>
            <a:ext cx="676656" cy="67665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0" y="271576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39312" y="2715768"/>
            <a:ext cx="676656" cy="67665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39312" y="271576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35424" y="2715768"/>
            <a:ext cx="676656" cy="67665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35424" y="271576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9136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hub de consolidación y seis depósitos regionales.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17373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más cercana por distancia por carretera.</a:t>
            </a:r>
            <a:endParaRPr lang="en-US" sz="17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sobre se asigna a exactamente una instalación despachadora. No se usan polígonos de servicio.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89320" y="3090672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3346704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93992" y="33649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Hub-directo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877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cercana es el hub → moto desde el hub.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869680" y="3090672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0" y="3346704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674352" y="33649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Depot-bound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877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cercana es un depósito → furgoneta, luego moto.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4937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carretera, no en línea recta. Las rectas salían ~40 % cortas y daban por buena la comprobación de furgonetas de §8.3 cuando en realidad se incumple.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 · EL CONCEPTO CENTRAL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desfase de un día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36192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Recogida, consolidación, clasificación y transporte ocurren el día D. La entrega — desde el hub y desde cada depósito — ocurre el día D+1.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5285232" cy="2011680"/>
          </a:xfrm>
          <a:prstGeom prst="roundRect">
            <a:avLst>
              <a:gd name="adj" fmla="val 3182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86968" y="2487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86968" y="2926080"/>
            <a:ext cx="1097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26080"/>
            <a:ext cx="987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Recogidas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93976" y="2926080"/>
            <a:ext cx="1097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48840" y="2926080"/>
            <a:ext cx="987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hub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00984" y="2926080"/>
            <a:ext cx="1097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55848" y="2926080"/>
            <a:ext cx="987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07992" y="2926080"/>
            <a:ext cx="1097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62856" y="2926080"/>
            <a:ext cx="987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troncal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16752" y="3200400"/>
            <a:ext cx="566928" cy="457200"/>
          </a:xfrm>
          <a:prstGeom prst="rightArrow">
            <a:avLst/>
          </a:prstGeom>
          <a:solidFill>
            <a:srgbClr val="B85042"/>
          </a:solidFill>
          <a:ln/>
        </p:spPr>
      </p:sp>
      <p:sp>
        <p:nvSpPr>
          <p:cNvPr id="16" name="Shape 14"/>
          <p:cNvSpPr/>
          <p:nvPr/>
        </p:nvSpPr>
        <p:spPr>
          <a:xfrm>
            <a:off x="6693408" y="2286000"/>
            <a:ext cx="4873752" cy="2011680"/>
          </a:xfrm>
          <a:prstGeom prst="roundRect">
            <a:avLst>
              <a:gd name="adj" fmla="val 3182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86016" y="2487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D+1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86016" y="292608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59168" y="2926080"/>
            <a:ext cx="195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Liberación matinal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98864" y="292608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72016" y="2926080"/>
            <a:ext cx="195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en moto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526280"/>
            <a:ext cx="10972800" cy="1051560"/>
          </a:xfrm>
          <a:prstGeom prst="roundRect">
            <a:avLst>
              <a:gd name="adj" fmla="val 6087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468172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restricción de cada depósito: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furgoneta llega antes de su liberación matinal. Para los depósitos lejanos, eso significa una salida nocturna.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4846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más tardía = liberación − tránsito − descarga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 – §5.5 · FLUJO DIARIO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cinco etapas del día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0972800" cy="795528"/>
          </a:xfrm>
          <a:prstGeom prst="roundRect">
            <a:avLst>
              <a:gd name="adj" fmla="val 8046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755648"/>
            <a:ext cx="429768" cy="4297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175564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691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Recogidas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664208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Dinámicas, durante todo el día. Solo furgonetas, por seguridad. Se reoptimiza con cadencia fija; las paradas visitadas se congelan.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607040" y="16916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§5.1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478024"/>
            <a:ext cx="10972800" cy="795528"/>
          </a:xfrm>
          <a:prstGeom prst="roundRect">
            <a:avLst>
              <a:gd name="adj" fmla="val 8046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0392" y="2660904"/>
            <a:ext cx="429768" cy="4297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392" y="266090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25968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en el hub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569464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Reconciliación, ensamblaje en sala limpia y clasificación. No se rutea, pero sí se cronometra: cada sobre tiene una hora prevista de estar listo.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0" y="259689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§5.2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383280"/>
            <a:ext cx="10972800" cy="795528"/>
          </a:xfrm>
          <a:prstGeom prst="roundRect">
            <a:avLst>
              <a:gd name="adj" fmla="val 8046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" y="3566160"/>
            <a:ext cx="429768" cy="4297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" y="356616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5021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troncal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347472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de furgoneta entre instalaciones: hub→depósito, transferencias entre depósitos y retornos.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350215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§5.3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288536"/>
            <a:ext cx="10972800" cy="795528"/>
          </a:xfrm>
          <a:prstGeom prst="roundRect">
            <a:avLst>
              <a:gd name="adj" fmla="val 8046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0392" y="4471416"/>
            <a:ext cx="429768" cy="4297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447141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4074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Última milla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4379976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por instalación, en moto, con límite de duración de ruta.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607040" y="440740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§5.4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5193792"/>
            <a:ext cx="10972800" cy="795528"/>
          </a:xfrm>
          <a:prstGeom prst="roundRect">
            <a:avLst>
              <a:gd name="adj" fmla="val 8046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0392" y="5376672"/>
            <a:ext cx="429768" cy="4297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0392" y="537667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5312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de retorno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794760" y="5285232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del día: rechazados, defectuosos y SLA vencido vuelven al cliente.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607040" y="531266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§5.5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 · INVARIANTES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Trece restricciones duras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1790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invariantes, no advertencias.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salida del solver se valida contra las trece antes de aceptarse. Una violación es un test que falla, nunca un aviso.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3474720" cy="1335024"/>
          </a:xfrm>
          <a:prstGeom prst="roundRect">
            <a:avLst>
              <a:gd name="adj" fmla="val 4795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441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3522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 como máximo por moto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240280"/>
            <a:ext cx="3474720" cy="1335024"/>
          </a:xfrm>
          <a:prstGeom prst="roundRect">
            <a:avLst>
              <a:gd name="adj" fmla="val 4795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441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kg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3522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máximo por furgoneta, en cada tramo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2440" y="2240280"/>
            <a:ext cx="3474720" cy="1335024"/>
          </a:xfrm>
          <a:prstGeom prst="roundRect">
            <a:avLst>
              <a:gd name="adj" fmla="val 4795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66760" y="2441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Turno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93522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empieza y acaba en su instalación, dentro del turno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721608"/>
            <a:ext cx="3474720" cy="1335024"/>
          </a:xfrm>
          <a:prstGeom prst="roundRect">
            <a:avLst>
              <a:gd name="adj" fmla="val 4795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39227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4165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sobre, un vehículo por día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721608"/>
            <a:ext cx="3474720" cy="1335024"/>
          </a:xfrm>
          <a:prstGeom prst="roundRect">
            <a:avLst>
              <a:gd name="adj" fmla="val 4795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617720" y="39227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Listos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4165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rutean sobres ya listos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2440" y="3721608"/>
            <a:ext cx="3474720" cy="1335024"/>
          </a:xfrm>
          <a:prstGeom prst="roundRect">
            <a:avLst>
              <a:gd name="adj" fmla="val 4795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66760" y="39227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furgoneta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4165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valijas nunca se parten ni van en moto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3218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siete más: llegada física antes del despacho, transferencias que no llegan a tiempo al SLA, descarga antes de la línea troncal, no despachar después del SLA…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· QUÉ SE OPTIMIZA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y prioridad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429768" cy="4297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4592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16152" y="16002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sobres entregados ponderados por prioridad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487168"/>
            <a:ext cx="429768" cy="4297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48716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16152" y="24414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sobres sin asignar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28416"/>
            <a:ext cx="429768" cy="4297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32841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16152" y="328269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tiempo y distancia total de ruta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169664"/>
            <a:ext cx="429768" cy="4297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416966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412394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Equilibrar la carga entre vehículos de una misma instalación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1572768"/>
            <a:ext cx="5212080" cy="1691640"/>
          </a:xfrm>
          <a:prstGeom prst="roundRect">
            <a:avLst>
              <a:gd name="adj" fmla="val 3784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56832" y="1783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prioridad es un número, no una categoría.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se codifican como tramos muy separados (Urgente 1.000–1.999, Estándar 100–199, Baja 1–99): una suma ponderada simple se comporta entonces de forma lexicográfica.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3401568"/>
            <a:ext cx="5212080" cy="1572768"/>
          </a:xfrm>
          <a:prstGeom prst="roundRect">
            <a:avLst>
              <a:gd name="adj" fmla="val 4070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56832" y="3602736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= hoy es una restricción dura, no un peso.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de priorización ya incorpora la proximidad al SLA en su puntuación. Ponderarla otra vez la contaría dos veces.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138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§8.2 — Operaciones puede forzar un sobre dentro del plan (lock sobre un vehículo) o fuera de él (excluded_by_ops, retirado antes del solve y reportado con motivo). Las dos direcciones no son simétricas.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· CICLO DE VIDA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entrega y el día siguiente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2615184" cy="1783080"/>
          </a:xfrm>
          <a:prstGeom prst="roundRect">
            <a:avLst>
              <a:gd name="adj" fmla="val 359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384048" cy="38404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ciclo del sobre.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2424" y="1627632"/>
            <a:ext cx="2615184" cy="1783080"/>
          </a:xfrm>
          <a:prstGeom prst="roundRect">
            <a:avLst>
              <a:gd name="adj" fmla="val 359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66744" y="184708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66744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Rechazado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66744" y="2743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destinatario lo rechaza → run de retorno.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0488" y="1627632"/>
            <a:ext cx="2615184" cy="1783080"/>
          </a:xfrm>
          <a:prstGeom prst="roundRect">
            <a:avLst>
              <a:gd name="adj" fmla="val 359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64808" y="184708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4808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Devuelto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743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al cliente.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88552" y="1627632"/>
            <a:ext cx="2615184" cy="1783080"/>
          </a:xfrm>
          <a:prstGeom prst="roundRect">
            <a:avLst>
              <a:gd name="adj" fmla="val 3590"/>
            </a:avLst>
          </a:prstGeom>
          <a:solidFill>
            <a:srgbClr val="EEF2EF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62872" y="1847088"/>
            <a:ext cx="384048" cy="384048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62872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Pospuesto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2743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reintenta → vuelve al pool de mañana.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703320"/>
            <a:ext cx="10972800" cy="1371600"/>
          </a:xfrm>
          <a:prstGeom prst="roundRect">
            <a:avLst>
              <a:gd name="adj" fmla="val 4667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" y="3895344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pool de mañana = lo posicionado ayer + los pospuestos retenidos localmente.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 backlog es visible en la simulación: se arrastra de un día al siguiente en vez de desaparecer al cerrar la jornada. Ese arrastre a través del límite del día es justamente lo que la plataforma no modela y DDN sí.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51560"/>
            <a:ext cx="3291840" cy="3291840"/>
          </a:xfrm>
          <a:prstGeom prst="ellipse">
            <a:avLst/>
          </a:prstGeom>
          <a:solidFill>
            <a:srgbClr val="B8504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5029200"/>
            <a:ext cx="2194560" cy="2194560"/>
          </a:xfrm>
          <a:prstGeom prst="ellipse">
            <a:avLst/>
          </a:prstGeom>
          <a:solidFill>
            <a:srgbClr val="A7BEAE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SACAR CONCLUSIONES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Ningún número de este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se lee solo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docs/capacity-finding.md antes de usar cualquier cifra producida aquí.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— Presentación 2: Cómo DDN implementa sus paquetes upstream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34340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cifra de 12,8 sobres por moto desplegada, frente a los 20–30 que §7.4 espera, no es una medición de capacidad y no debe usarse como tal. En esa ejecución no hay nada que ate: el solver declina por precios, no por tiempo.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DDN — Red de Entrega de Documentos</dc:title>
  <dc:subject>PptxGenJS Presentation</dc:subject>
  <dc:creator>DDN</dc:creator>
  <cp:lastModifiedBy>DDN</cp:lastModifiedBy>
  <cp:revision>1</cp:revision>
  <dcterms:created xsi:type="dcterms:W3CDTF">2026-09-22T15:58:20Z</dcterms:created>
  <dcterms:modified xsi:type="dcterms:W3CDTF">2026-09-22T15:58:20Z</dcterms:modified>
</cp:coreProperties>
</file>